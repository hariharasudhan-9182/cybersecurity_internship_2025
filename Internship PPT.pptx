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0" r:id="rId4"/>
    <p:sldId id="261" r:id="rId5"/>
    <p:sldId id="268" r:id="rId6"/>
    <p:sldId id="269" r:id="rId7"/>
    <p:sldId id="270" r:id="rId8"/>
    <p:sldId id="271" r:id="rId9"/>
    <p:sldId id="272" r:id="rId10"/>
    <p:sldId id="273" r:id="rId11"/>
    <p:sldId id="277" r:id="rId12"/>
    <p:sldId id="274" r:id="rId13"/>
    <p:sldId id="275" r:id="rId14"/>
    <p:sldId id="27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8" d="100"/>
          <a:sy n="88" d="100"/>
        </p:scale>
        <p:origin x="49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D2DAFAE-F2D6-421A-992A-90E3ADB4D0EB}" type="datetimeFigureOut">
              <a:rPr lang="en-US" smtClean="0"/>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33AEFC-01CE-4F42-909C-56B8E434938D}" type="slidenum">
              <a:rPr lang="en-US" smtClean="0"/>
              <a:t>‹#›</a:t>
            </a:fld>
            <a:endParaRPr lang="en-US"/>
          </a:p>
        </p:txBody>
      </p:sp>
    </p:spTree>
    <p:extLst>
      <p:ext uri="{BB962C8B-B14F-4D97-AF65-F5344CB8AC3E}">
        <p14:creationId xmlns:p14="http://schemas.microsoft.com/office/powerpoint/2010/main" val="951767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D2DAFAE-F2D6-421A-992A-90E3ADB4D0EB}" type="datetimeFigureOut">
              <a:rPr lang="en-US" smtClean="0"/>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33AEFC-01CE-4F42-909C-56B8E434938D}" type="slidenum">
              <a:rPr lang="en-US" smtClean="0"/>
              <a:t>‹#›</a:t>
            </a:fld>
            <a:endParaRPr lang="en-US"/>
          </a:p>
        </p:txBody>
      </p:sp>
    </p:spTree>
    <p:extLst>
      <p:ext uri="{BB962C8B-B14F-4D97-AF65-F5344CB8AC3E}">
        <p14:creationId xmlns:p14="http://schemas.microsoft.com/office/powerpoint/2010/main" val="4006365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D2DAFAE-F2D6-421A-992A-90E3ADB4D0EB}" type="datetimeFigureOut">
              <a:rPr lang="en-US" smtClean="0"/>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33AEFC-01CE-4F42-909C-56B8E434938D}" type="slidenum">
              <a:rPr lang="en-US" smtClean="0"/>
              <a:t>‹#›</a:t>
            </a:fld>
            <a:endParaRPr lang="en-US"/>
          </a:p>
        </p:txBody>
      </p:sp>
    </p:spTree>
    <p:extLst>
      <p:ext uri="{BB962C8B-B14F-4D97-AF65-F5344CB8AC3E}">
        <p14:creationId xmlns:p14="http://schemas.microsoft.com/office/powerpoint/2010/main" val="2822897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D2DAFAE-F2D6-421A-992A-90E3ADB4D0EB}" type="datetimeFigureOut">
              <a:rPr lang="en-US" smtClean="0"/>
              <a:t>7/14/2025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33AEFC-01CE-4F42-909C-56B8E434938D}" type="slidenum">
              <a:rPr lang="en-US" smtClean="0"/>
              <a:t>‹#›</a:t>
            </a:fld>
            <a:endParaRPr lang="en-US"/>
          </a:p>
        </p:txBody>
      </p:sp>
    </p:spTree>
    <p:extLst>
      <p:ext uri="{BB962C8B-B14F-4D97-AF65-F5344CB8AC3E}">
        <p14:creationId xmlns:p14="http://schemas.microsoft.com/office/powerpoint/2010/main" val="701424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D2DAFAE-F2D6-421A-992A-90E3ADB4D0EB}" type="datetimeFigureOut">
              <a:rPr lang="en-US" smtClean="0"/>
              <a:t>7/14/2025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33AEFC-01CE-4F42-909C-56B8E434938D}" type="slidenum">
              <a:rPr lang="en-US" smtClean="0"/>
              <a:t>‹#›</a:t>
            </a:fld>
            <a:endParaRPr lang="en-US"/>
          </a:p>
        </p:txBody>
      </p:sp>
    </p:spTree>
    <p:extLst>
      <p:ext uri="{BB962C8B-B14F-4D97-AF65-F5344CB8AC3E}">
        <p14:creationId xmlns:p14="http://schemas.microsoft.com/office/powerpoint/2010/main" val="1784934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D2DAFAE-F2D6-421A-992A-90E3ADB4D0EB}" type="datetimeFigureOut">
              <a:rPr lang="en-US" smtClean="0"/>
              <a:t>7/14/2025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33AEFC-01CE-4F42-909C-56B8E434938D}" type="slidenum">
              <a:rPr lang="en-US" smtClean="0"/>
              <a:t>‹#›</a:t>
            </a:fld>
            <a:endParaRPr lang="en-US"/>
          </a:p>
        </p:txBody>
      </p:sp>
    </p:spTree>
    <p:extLst>
      <p:ext uri="{BB962C8B-B14F-4D97-AF65-F5344CB8AC3E}">
        <p14:creationId xmlns:p14="http://schemas.microsoft.com/office/powerpoint/2010/main" val="2898514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2DAFAE-F2D6-421A-992A-90E3ADB4D0EB}" type="datetimeFigureOut">
              <a:rPr lang="en-US" smtClean="0"/>
              <a:t>7/14/2025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33AEFC-01CE-4F42-909C-56B8E434938D}" type="slidenum">
              <a:rPr lang="en-US" smtClean="0"/>
              <a:t>‹#›</a:t>
            </a:fld>
            <a:endParaRPr lang="en-US"/>
          </a:p>
        </p:txBody>
      </p:sp>
    </p:spTree>
    <p:extLst>
      <p:ext uri="{BB962C8B-B14F-4D97-AF65-F5344CB8AC3E}">
        <p14:creationId xmlns:p14="http://schemas.microsoft.com/office/powerpoint/2010/main" val="1517325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D2DAFAE-F2D6-421A-992A-90E3ADB4D0EB}" type="datetimeFigureOut">
              <a:rPr lang="en-US" smtClean="0"/>
              <a:t>7/14/2025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33AEFC-01CE-4F42-909C-56B8E434938D}" type="slidenum">
              <a:rPr lang="en-US" smtClean="0"/>
              <a:t>‹#›</a:t>
            </a:fld>
            <a:endParaRPr lang="en-US"/>
          </a:p>
        </p:txBody>
      </p:sp>
    </p:spTree>
    <p:extLst>
      <p:ext uri="{BB962C8B-B14F-4D97-AF65-F5344CB8AC3E}">
        <p14:creationId xmlns:p14="http://schemas.microsoft.com/office/powerpoint/2010/main" val="828942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D2DAFAE-F2D6-421A-992A-90E3ADB4D0EB}" type="datetimeFigureOut">
              <a:rPr lang="en-US" smtClean="0"/>
              <a:t>7/14/2025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33AEFC-01CE-4F42-909C-56B8E434938D}" type="slidenum">
              <a:rPr lang="en-US" smtClean="0"/>
              <a:t>‹#›</a:t>
            </a:fld>
            <a:endParaRPr lang="en-US"/>
          </a:p>
        </p:txBody>
      </p:sp>
    </p:spTree>
    <p:extLst>
      <p:ext uri="{BB962C8B-B14F-4D97-AF65-F5344CB8AC3E}">
        <p14:creationId xmlns:p14="http://schemas.microsoft.com/office/powerpoint/2010/main" val="32729972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D2DAFAE-F2D6-421A-992A-90E3ADB4D0EB}" type="datetimeFigureOut">
              <a:rPr lang="en-US" smtClean="0"/>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33AEFC-01CE-4F42-909C-56B8E434938D}" type="slidenum">
              <a:rPr lang="en-US" smtClean="0"/>
              <a:t>‹#›</a:t>
            </a:fld>
            <a:endParaRPr lang="en-US"/>
          </a:p>
        </p:txBody>
      </p:sp>
    </p:spTree>
    <p:extLst>
      <p:ext uri="{BB962C8B-B14F-4D97-AF65-F5344CB8AC3E}">
        <p14:creationId xmlns:p14="http://schemas.microsoft.com/office/powerpoint/2010/main" val="32669366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D2DAFAE-F2D6-421A-992A-90E3ADB4D0EB}" type="datetimeFigureOut">
              <a:rPr lang="en-US" smtClean="0"/>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33AEFC-01CE-4F42-909C-56B8E434938D}" type="slidenum">
              <a:rPr lang="en-US" smtClean="0"/>
              <a:t>‹#›</a:t>
            </a:fld>
            <a:endParaRPr lang="en-US"/>
          </a:p>
        </p:txBody>
      </p:sp>
    </p:spTree>
    <p:extLst>
      <p:ext uri="{BB962C8B-B14F-4D97-AF65-F5344CB8AC3E}">
        <p14:creationId xmlns:p14="http://schemas.microsoft.com/office/powerpoint/2010/main" val="41378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2DAFAE-F2D6-421A-992A-90E3ADB4D0EB}" type="datetimeFigureOut">
              <a:rPr lang="en-US" smtClean="0"/>
              <a:t>7/14/2025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33AEFC-01CE-4F42-909C-56B8E434938D}" type="slidenum">
              <a:rPr lang="en-US" smtClean="0"/>
              <a:t>‹#›</a:t>
            </a:fld>
            <a:endParaRPr lang="en-US"/>
          </a:p>
        </p:txBody>
      </p:sp>
    </p:spTree>
    <p:extLst>
      <p:ext uri="{BB962C8B-B14F-4D97-AF65-F5344CB8AC3E}">
        <p14:creationId xmlns:p14="http://schemas.microsoft.com/office/powerpoint/2010/main" val="12202538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252293" y="318405"/>
            <a:ext cx="9400022" cy="1237665"/>
          </a:xfrm>
        </p:spPr>
        <p:txBody>
          <a:bodyPr>
            <a:noAutofit/>
          </a:bodyPr>
          <a:lstStyle/>
          <a:p>
            <a:pPr algn="ctr"/>
            <a:r>
              <a:rPr lang="en-US" sz="2400" b="1" dirty="0">
                <a:latin typeface="Times New Roman" panose="02020603050405020304" pitchFamily="18" charset="0"/>
                <a:cs typeface="Times New Roman" panose="02020603050405020304" pitchFamily="18" charset="0"/>
              </a:rPr>
              <a:t>        Dr. N.G.P. INSTITUTE OF TECHNOLOGY</a:t>
            </a:r>
            <a:br>
              <a:rPr lang="en-US" sz="2400" b="1"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An Autonomous Institution)</a:t>
            </a:r>
            <a:r>
              <a:rPr lang="en-US" sz="2400" b="1" dirty="0">
                <a:latin typeface="Times New Roman" panose="02020603050405020304" pitchFamily="18" charset="0"/>
                <a:cs typeface="Times New Roman" panose="02020603050405020304" pitchFamily="18" charset="0"/>
              </a:rPr>
              <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Approved by AICTE, New Delhi &amp; Affiliated to Anna University, Chennai.</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Recognized by UGC &amp; Accredited by NAAC with A+ and NBA [BME, CSE, ECE, EEE &amp; Mechanical]</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Coimbatore- 641 048</a:t>
            </a:r>
            <a:endParaRPr lang="en-US" sz="1600" dirty="0"/>
          </a:p>
        </p:txBody>
      </p:sp>
      <p:sp>
        <p:nvSpPr>
          <p:cNvPr id="5" name="Rectangle 4"/>
          <p:cNvSpPr/>
          <p:nvPr/>
        </p:nvSpPr>
        <p:spPr>
          <a:xfrm>
            <a:off x="1539685" y="1940466"/>
            <a:ext cx="9246302" cy="1938992"/>
          </a:xfrm>
          <a:prstGeom prst="rect">
            <a:avLst/>
          </a:prstGeom>
        </p:spPr>
        <p:txBody>
          <a:bodyPr wrap="square">
            <a:spAutoFit/>
          </a:bodyPr>
          <a:lstStyle/>
          <a:p>
            <a:pPr algn="ctr"/>
            <a:r>
              <a:rPr lang="en-US" sz="2400" b="1" kern="0" spc="-10" dirty="0">
                <a:effectLst/>
                <a:latin typeface="Times New Roman" panose="02020603050405020304" pitchFamily="18" charset="0"/>
                <a:ea typeface="Times New Roman" panose="02020603050405020304" pitchFamily="18" charset="0"/>
              </a:rPr>
              <a:t>DEPARTMENT OF COMPUTER</a:t>
            </a:r>
            <a:r>
              <a:rPr lang="en-US" sz="2400" b="1" kern="0" spc="-10" dirty="0">
                <a:latin typeface="Times New Roman" panose="02020603050405020304" pitchFamily="18" charset="0"/>
                <a:ea typeface="Times New Roman" panose="02020603050405020304" pitchFamily="18" charset="0"/>
              </a:rPr>
              <a:t> SCIENCE AND </a:t>
            </a:r>
            <a:r>
              <a:rPr lang="en-US" sz="2400" b="1" kern="0" spc="-10" dirty="0" smtClean="0">
                <a:latin typeface="Times New Roman" panose="02020603050405020304" pitchFamily="18" charset="0"/>
                <a:ea typeface="Times New Roman" panose="02020603050405020304" pitchFamily="18" charset="0"/>
              </a:rPr>
              <a:t>ENGINEERING(CYBER SECURITY)</a:t>
            </a:r>
            <a:endParaRPr lang="en-US" sz="2400" b="1" kern="0" spc="-10" dirty="0">
              <a:effectLst/>
              <a:latin typeface="Times New Roman" panose="02020603050405020304" pitchFamily="18" charset="0"/>
              <a:ea typeface="Times New Roman" panose="02020603050405020304" pitchFamily="18" charset="0"/>
            </a:endParaRPr>
          </a:p>
          <a:p>
            <a:pPr algn="ctr"/>
            <a:endParaRPr lang="en-GB" sz="2400" b="1" dirty="0" smtClean="0">
              <a:latin typeface="Times New Roman" panose="02020603050405020304" pitchFamily="18" charset="0"/>
              <a:cs typeface="Times New Roman" panose="02020603050405020304" pitchFamily="18" charset="0"/>
            </a:endParaRPr>
          </a:p>
          <a:p>
            <a:pPr algn="ctr"/>
            <a:r>
              <a:rPr lang="en-GB" sz="2400" b="1" dirty="0" smtClean="0">
                <a:latin typeface="Times New Roman" panose="02020603050405020304" pitchFamily="18" charset="0"/>
                <a:cs typeface="Times New Roman" panose="02020603050405020304" pitchFamily="18" charset="0"/>
              </a:rPr>
              <a:t>Cybersecurity: VAPT of </a:t>
            </a:r>
            <a:r>
              <a:rPr lang="en-GB" sz="2400" b="1" dirty="0" err="1" smtClean="0">
                <a:latin typeface="Times New Roman" panose="02020603050405020304" pitchFamily="18" charset="0"/>
                <a:cs typeface="Times New Roman" panose="02020603050405020304" pitchFamily="18" charset="0"/>
              </a:rPr>
              <a:t>Wordpress</a:t>
            </a:r>
            <a:r>
              <a:rPr lang="en-GB" sz="2400" b="1" dirty="0" smtClean="0">
                <a:latin typeface="Times New Roman" panose="02020603050405020304" pitchFamily="18" charset="0"/>
                <a:cs typeface="Times New Roman" panose="02020603050405020304" pitchFamily="18" charset="0"/>
              </a:rPr>
              <a:t> websites</a:t>
            </a:r>
            <a:endParaRPr lang="en-GB" sz="2400" b="1" dirty="0">
              <a:latin typeface="Times New Roman" panose="02020603050405020304" pitchFamily="18" charset="0"/>
              <a:cs typeface="Times New Roman" panose="02020603050405020304" pitchFamily="18" charset="0"/>
            </a:endParaRPr>
          </a:p>
          <a:p>
            <a:pPr algn="ctr"/>
            <a:endParaRPr lang="en-GB" sz="2400" b="1" dirty="0">
              <a:latin typeface="Times New Roman" panose="02020603050405020304" pitchFamily="18" charset="0"/>
              <a:cs typeface="Times New Roman" panose="02020603050405020304" pitchFamily="18" charset="0"/>
            </a:endParaRPr>
          </a:p>
        </p:txBody>
      </p:sp>
      <p:pic>
        <p:nvPicPr>
          <p:cNvPr id="2" name="image1.png"/>
          <p:cNvPicPr/>
          <p:nvPr/>
        </p:nvPicPr>
        <p:blipFill>
          <a:blip r:embed="rId2"/>
          <a:srcRect/>
          <a:stretch>
            <a:fillRect/>
          </a:stretch>
        </p:blipFill>
        <p:spPr>
          <a:xfrm>
            <a:off x="706382" y="431622"/>
            <a:ext cx="1091821" cy="1077210"/>
          </a:xfrm>
          <a:prstGeom prst="rect">
            <a:avLst/>
          </a:prstGeom>
        </p:spPr>
      </p:pic>
      <p:pic>
        <p:nvPicPr>
          <p:cNvPr id="10" name="Picture 9"/>
          <p:cNvPicPr>
            <a:picLocks noChangeAspect="1"/>
          </p:cNvPicPr>
          <p:nvPr/>
        </p:nvPicPr>
        <p:blipFill>
          <a:blip r:embed="rId3"/>
          <a:stretch>
            <a:fillRect/>
          </a:stretch>
        </p:blipFill>
        <p:spPr>
          <a:xfrm>
            <a:off x="10611371" y="405488"/>
            <a:ext cx="1091820" cy="1077211"/>
          </a:xfrm>
          <a:prstGeom prst="rect">
            <a:avLst/>
          </a:prstGeom>
        </p:spPr>
      </p:pic>
      <p:sp>
        <p:nvSpPr>
          <p:cNvPr id="12" name="TextBox 11"/>
          <p:cNvSpPr txBox="1"/>
          <p:nvPr/>
        </p:nvSpPr>
        <p:spPr>
          <a:xfrm>
            <a:off x="6441440" y="4018915"/>
            <a:ext cx="5261751" cy="2246769"/>
          </a:xfrm>
          <a:prstGeom prst="rect">
            <a:avLst/>
          </a:prstGeom>
          <a:noFill/>
        </p:spPr>
        <p:txBody>
          <a:bodyPr wrap="square" rtlCol="0">
            <a:spAutoFit/>
          </a:bodyPr>
          <a:lstStyle/>
          <a:p>
            <a:r>
              <a:rPr lang="en-US" sz="2000" b="1" dirty="0" smtClean="0">
                <a:latin typeface="Times New Roman" panose="02020603050405020304" pitchFamily="18" charset="0"/>
                <a:cs typeface="Times New Roman" panose="02020603050405020304" pitchFamily="18" charset="0"/>
              </a:rPr>
              <a:t>Internship Company Details:</a:t>
            </a:r>
          </a:p>
          <a:p>
            <a:r>
              <a:rPr lang="en-US" sz="2000" b="1" dirty="0" smtClean="0">
                <a:latin typeface="Times New Roman" panose="02020603050405020304" pitchFamily="18" charset="0"/>
                <a:cs typeface="Times New Roman" panose="02020603050405020304" pitchFamily="18" charset="0"/>
              </a:rPr>
              <a:t>BCBUZZ Technologies Private Limited.,</a:t>
            </a:r>
          </a:p>
          <a:p>
            <a:r>
              <a:rPr lang="en-US" sz="2000" dirty="0" err="1" smtClean="0">
                <a:latin typeface="Times New Roman" panose="02020603050405020304" pitchFamily="18" charset="0"/>
                <a:cs typeface="Times New Roman" panose="02020603050405020304" pitchFamily="18" charset="0"/>
              </a:rPr>
              <a:t>Karpagam</a:t>
            </a:r>
            <a:r>
              <a:rPr lang="en-US" sz="2000" dirty="0" smtClean="0">
                <a:latin typeface="Times New Roman" panose="02020603050405020304" pitchFamily="18" charset="0"/>
                <a:cs typeface="Times New Roman" panose="02020603050405020304" pitchFamily="18" charset="0"/>
              </a:rPr>
              <a:t> Innovation &amp; Incubation Council, </a:t>
            </a:r>
            <a:r>
              <a:rPr lang="en-US" sz="2000" dirty="0" err="1" smtClean="0">
                <a:latin typeface="Times New Roman" panose="02020603050405020304" pitchFamily="18" charset="0"/>
                <a:cs typeface="Times New Roman" panose="02020603050405020304" pitchFamily="18" charset="0"/>
              </a:rPr>
              <a:t>Karpagam</a:t>
            </a:r>
            <a:r>
              <a:rPr lang="en-US" sz="2000" dirty="0" smtClean="0">
                <a:latin typeface="Times New Roman" panose="02020603050405020304" pitchFamily="18" charset="0"/>
                <a:cs typeface="Times New Roman" panose="02020603050405020304" pitchFamily="18" charset="0"/>
              </a:rPr>
              <a:t> University Campus, </a:t>
            </a:r>
            <a:r>
              <a:rPr lang="en-US" sz="2000" dirty="0" err="1" smtClean="0">
                <a:latin typeface="Times New Roman" panose="02020603050405020304" pitchFamily="18" charset="0"/>
                <a:cs typeface="Times New Roman" panose="02020603050405020304" pitchFamily="18" charset="0"/>
              </a:rPr>
              <a:t>Eachanari</a:t>
            </a:r>
            <a:r>
              <a:rPr lang="en-US" sz="2000" dirty="0" smtClean="0">
                <a:latin typeface="Times New Roman" panose="02020603050405020304" pitchFamily="18" charset="0"/>
                <a:cs typeface="Times New Roman" panose="02020603050405020304" pitchFamily="18" charset="0"/>
              </a:rPr>
              <a:t> Post, </a:t>
            </a:r>
            <a:r>
              <a:rPr lang="en-US" sz="2000" dirty="0" err="1" smtClean="0">
                <a:latin typeface="Times New Roman" panose="02020603050405020304" pitchFamily="18" charset="0"/>
                <a:cs typeface="Times New Roman" panose="02020603050405020304" pitchFamily="18" charset="0"/>
              </a:rPr>
              <a:t>Pollachi</a:t>
            </a:r>
            <a:r>
              <a:rPr lang="en-US" sz="2000" dirty="0" smtClean="0">
                <a:latin typeface="Times New Roman" panose="02020603050405020304" pitchFamily="18" charset="0"/>
                <a:cs typeface="Times New Roman" panose="02020603050405020304" pitchFamily="18" charset="0"/>
              </a:rPr>
              <a:t> Main Road, Coimbatore - 641 021.</a:t>
            </a:r>
          </a:p>
          <a:p>
            <a:endParaRPr lang="en-US" sz="2000" dirty="0">
              <a:latin typeface="Times New Roman" panose="02020603050405020304" pitchFamily="18" charset="0"/>
              <a:cs typeface="Times New Roman" panose="02020603050405020304" pitchFamily="18" charset="0"/>
            </a:endParaRPr>
          </a:p>
          <a:p>
            <a:r>
              <a:rPr lang="en-US" sz="2000" b="1" dirty="0" smtClean="0">
                <a:latin typeface="Times New Roman" panose="02020603050405020304" pitchFamily="18" charset="0"/>
                <a:cs typeface="Times New Roman" panose="02020603050405020304" pitchFamily="18" charset="0"/>
              </a:rPr>
              <a:t>Internship Period: </a:t>
            </a:r>
            <a:r>
              <a:rPr lang="en-US" sz="2000" dirty="0" smtClean="0">
                <a:latin typeface="Times New Roman" panose="02020603050405020304" pitchFamily="18" charset="0"/>
                <a:cs typeface="Times New Roman" panose="02020603050405020304" pitchFamily="18" charset="0"/>
              </a:rPr>
              <a:t>09/06/2025 to 21/06/2025</a:t>
            </a:r>
            <a:endParaRPr lang="en-US" sz="2000"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706382" y="4018915"/>
            <a:ext cx="4292338" cy="1569660"/>
          </a:xfrm>
          <a:prstGeom prst="rect">
            <a:avLst/>
          </a:prstGeom>
          <a:noFill/>
        </p:spPr>
        <p:txBody>
          <a:bodyPr wrap="square" rtlCol="0">
            <a:spAutoFit/>
          </a:bodyPr>
          <a:lstStyle/>
          <a:p>
            <a:pPr>
              <a:lnSpc>
                <a:spcPct val="150000"/>
              </a:lnSpc>
            </a:pPr>
            <a:r>
              <a:rPr lang="en-US" sz="2400" b="1" dirty="0" smtClean="0">
                <a:latin typeface="Times New Roman" panose="02020603050405020304" pitchFamily="18" charset="0"/>
                <a:cs typeface="Times New Roman" panose="02020603050405020304" pitchFamily="18" charset="0"/>
              </a:rPr>
              <a:t>Presented by:</a:t>
            </a:r>
          </a:p>
          <a:p>
            <a:r>
              <a:rPr lang="en-US" sz="2000" dirty="0" smtClean="0">
                <a:latin typeface="Times New Roman" panose="02020603050405020304" pitchFamily="18" charset="0"/>
                <a:cs typeface="Times New Roman" panose="02020603050405020304" pitchFamily="18" charset="0"/>
              </a:rPr>
              <a:t>HARIHARA SUDHAN K </a:t>
            </a:r>
            <a:r>
              <a:rPr lang="en-US" sz="2000" dirty="0" err="1" smtClean="0">
                <a:latin typeface="Times New Roman" panose="02020603050405020304" pitchFamily="18" charset="0"/>
                <a:cs typeface="Times New Roman" panose="02020603050405020304" pitchFamily="18" charset="0"/>
              </a:rPr>
              <a:t>K</a:t>
            </a: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710723149021</a:t>
            </a:r>
          </a:p>
          <a:p>
            <a:r>
              <a:rPr lang="en-US" sz="2000" dirty="0" err="1" smtClean="0">
                <a:latin typeface="Times New Roman" panose="02020603050405020304" pitchFamily="18" charset="0"/>
                <a:cs typeface="Times New Roman" panose="02020603050405020304" pitchFamily="18" charset="0"/>
              </a:rPr>
              <a:t>IIIrd</a:t>
            </a:r>
            <a:r>
              <a:rPr lang="en-US" sz="2000" dirty="0" smtClean="0">
                <a:latin typeface="Times New Roman" panose="02020603050405020304" pitchFamily="18" charset="0"/>
                <a:cs typeface="Times New Roman" panose="02020603050405020304" pitchFamily="18" charset="0"/>
              </a:rPr>
              <a:t> Year/</a:t>
            </a:r>
            <a:r>
              <a:rPr lang="en-US" sz="2000" dirty="0" err="1" smtClean="0">
                <a:latin typeface="Times New Roman" panose="02020603050405020304" pitchFamily="18" charset="0"/>
                <a:cs typeface="Times New Roman" panose="02020603050405020304" pitchFamily="18" charset="0"/>
              </a:rPr>
              <a:t>Vth</a:t>
            </a:r>
            <a:r>
              <a:rPr lang="en-US" sz="2000" dirty="0" smtClean="0">
                <a:latin typeface="Times New Roman" panose="02020603050405020304" pitchFamily="18" charset="0"/>
                <a:cs typeface="Times New Roman" panose="02020603050405020304" pitchFamily="18" charset="0"/>
              </a:rPr>
              <a:t> Semester</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52860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96240" y="345440"/>
            <a:ext cx="11399520" cy="1026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1630680" y="596910"/>
            <a:ext cx="8930640" cy="523220"/>
          </a:xfrm>
          <a:prstGeom prst="rect">
            <a:avLst/>
          </a:prstGeom>
          <a:noFill/>
        </p:spPr>
        <p:txBody>
          <a:bodyPr wrap="square" rtlCol="0">
            <a:spAutoFit/>
          </a:bodyPr>
          <a:lstStyle/>
          <a:p>
            <a:pPr algn="ctr"/>
            <a:r>
              <a:rPr lang="en-US" sz="2800" dirty="0" smtClean="0">
                <a:latin typeface="Times New Roman" panose="02020603050405020304" pitchFamily="18" charset="0"/>
                <a:cs typeface="Times New Roman" panose="02020603050405020304" pitchFamily="18" charset="0"/>
              </a:rPr>
              <a:t>INTRODUCTION</a:t>
            </a:r>
            <a:endParaRPr lang="en-US" sz="28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396240" y="1788160"/>
            <a:ext cx="11399520" cy="452431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I completed my internship at </a:t>
            </a:r>
            <a:r>
              <a:rPr lang="en-US" sz="2400" dirty="0" smtClean="0">
                <a:latin typeface="Times New Roman" panose="02020603050405020304" pitchFamily="18" charset="0"/>
                <a:cs typeface="Times New Roman" panose="02020603050405020304" pitchFamily="18" charset="0"/>
              </a:rPr>
              <a:t>BCBUZZ Technologies </a:t>
            </a:r>
            <a:r>
              <a:rPr lang="en-US" sz="2400" dirty="0" smtClean="0">
                <a:latin typeface="Times New Roman" panose="02020603050405020304" pitchFamily="18" charset="0"/>
                <a:cs typeface="Times New Roman" panose="02020603050405020304" pitchFamily="18" charset="0"/>
              </a:rPr>
              <a:t>Pvt. Ltd., where I worked as a Cybersecurity Intern. My primary focus was on conducting Vulnerability Assessment and Penetration Testing (VAPT) of WordPress websites, which are commonly targeted due to widely used plugins and themes. During this project, I used a purposely vulnerable test environment (DVWA) to simulate real-world attacks safely and legally.</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The main objective was to find security loopholes in pre-installed themes and plugins, understand how attackers exploit these weaknesses, and suggest practical security measures to prevent them.</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357332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96240" y="345440"/>
            <a:ext cx="11399520" cy="10058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396240" y="586750"/>
            <a:ext cx="11399520" cy="523220"/>
          </a:xfrm>
          <a:prstGeom prst="rect">
            <a:avLst/>
          </a:prstGeom>
          <a:noFill/>
        </p:spPr>
        <p:txBody>
          <a:bodyPr wrap="square" rtlCol="0">
            <a:spAutoFit/>
          </a:bodyPr>
          <a:lstStyle/>
          <a:p>
            <a:pPr algn="ctr"/>
            <a:r>
              <a:rPr lang="en-US" sz="2800" dirty="0" smtClean="0">
                <a:latin typeface="Times New Roman" panose="02020603050405020304" pitchFamily="18" charset="0"/>
                <a:cs typeface="Times New Roman" panose="02020603050405020304" pitchFamily="18" charset="0"/>
              </a:rPr>
              <a:t>TOOLS LEARNED</a:t>
            </a:r>
            <a:endParaRPr lang="en-US" sz="28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396240" y="1859280"/>
            <a:ext cx="11399520" cy="452431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dirty="0" err="1" smtClean="0">
                <a:latin typeface="Times New Roman" panose="02020603050405020304" pitchFamily="18" charset="0"/>
                <a:cs typeface="Times New Roman" panose="02020603050405020304" pitchFamily="18" charset="0"/>
              </a:rPr>
              <a:t>Subfinder</a:t>
            </a:r>
            <a:r>
              <a:rPr lang="en-US" sz="2400" dirty="0" smtClean="0">
                <a:latin typeface="Times New Roman" panose="02020603050405020304" pitchFamily="18" charset="0"/>
                <a:cs typeface="Times New Roman" panose="02020603050405020304" pitchFamily="18" charset="0"/>
              </a:rPr>
              <a:t>: Subdomain enumeration</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Amass: Recon &amp; DNS mapping.</a:t>
            </a:r>
          </a:p>
          <a:p>
            <a:pPr marL="342900" indent="-342900">
              <a:lnSpc>
                <a:spcPct val="150000"/>
              </a:lnSpc>
              <a:buFont typeface="Arial" panose="020B0604020202020204" pitchFamily="34" charset="0"/>
              <a:buChar char="•"/>
            </a:pPr>
            <a:r>
              <a:rPr lang="en-US" sz="2400" dirty="0" err="1" smtClean="0">
                <a:latin typeface="Times New Roman" panose="02020603050405020304" pitchFamily="18" charset="0"/>
                <a:cs typeface="Times New Roman" panose="02020603050405020304" pitchFamily="18" charset="0"/>
              </a:rPr>
              <a:t>Gobuster</a:t>
            </a:r>
            <a:r>
              <a:rPr lang="en-US" sz="2400" dirty="0" smtClean="0">
                <a:latin typeface="Times New Roman" panose="02020603050405020304" pitchFamily="18" charset="0"/>
                <a:cs typeface="Times New Roman" panose="02020603050405020304" pitchFamily="18" charset="0"/>
              </a:rPr>
              <a:t>: Directory brute-forcing.</a:t>
            </a:r>
          </a:p>
          <a:p>
            <a:pPr marL="342900" indent="-342900">
              <a:lnSpc>
                <a:spcPct val="150000"/>
              </a:lnSpc>
              <a:buFont typeface="Arial" panose="020B0604020202020204" pitchFamily="34" charset="0"/>
              <a:buChar char="•"/>
            </a:pPr>
            <a:r>
              <a:rPr lang="en-US" sz="2400" dirty="0" err="1" smtClean="0">
                <a:latin typeface="Times New Roman" panose="02020603050405020304" pitchFamily="18" charset="0"/>
                <a:cs typeface="Times New Roman" panose="02020603050405020304" pitchFamily="18" charset="0"/>
              </a:rPr>
              <a:t>WPScan</a:t>
            </a:r>
            <a:r>
              <a:rPr lang="en-US" sz="2400" dirty="0" smtClean="0">
                <a:latin typeface="Times New Roman" panose="02020603050405020304" pitchFamily="18" charset="0"/>
                <a:cs typeface="Times New Roman" panose="02020603050405020304" pitchFamily="18" charset="0"/>
              </a:rPr>
              <a:t>: WordPress scanning for plugins, themes &amp; CVEs.</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Burp Suite: Manual interception &amp; exploitation.</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OWASP ZAP: Automated vulnerability scanning.</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Wafw00f: WAF detection.</a:t>
            </a:r>
          </a:p>
          <a:p>
            <a:pPr marL="342900" indent="-342900">
              <a:lnSpc>
                <a:spcPct val="150000"/>
              </a:lnSpc>
              <a:buFont typeface="Arial" panose="020B0604020202020204" pitchFamily="34" charset="0"/>
              <a:buChar char="•"/>
            </a:pPr>
            <a:r>
              <a:rPr lang="en-US" sz="2400" dirty="0" err="1" smtClean="0">
                <a:latin typeface="Times New Roman" panose="02020603050405020304" pitchFamily="18" charset="0"/>
                <a:cs typeface="Times New Roman" panose="02020603050405020304" pitchFamily="18" charset="0"/>
              </a:rPr>
              <a:t>Nmap</a:t>
            </a:r>
            <a:r>
              <a:rPr lang="en-US" sz="2400" dirty="0" smtClean="0">
                <a:latin typeface="Times New Roman" panose="02020603050405020304" pitchFamily="18" charset="0"/>
                <a:cs typeface="Times New Roman" panose="02020603050405020304" pitchFamily="18" charset="0"/>
              </a:rPr>
              <a:t>: Port &amp; service scanning</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61614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96240" y="345440"/>
            <a:ext cx="11399520" cy="10058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1630680" y="586750"/>
            <a:ext cx="8930640" cy="523220"/>
          </a:xfrm>
          <a:prstGeom prst="rect">
            <a:avLst/>
          </a:prstGeom>
          <a:noFill/>
        </p:spPr>
        <p:txBody>
          <a:bodyPr wrap="square" rtlCol="0">
            <a:spAutoFit/>
          </a:bodyPr>
          <a:lstStyle/>
          <a:p>
            <a:pPr algn="ctr"/>
            <a:r>
              <a:rPr lang="en-US" sz="2800" dirty="0" smtClean="0">
                <a:latin typeface="Times New Roman" panose="02020603050405020304" pitchFamily="18" charset="0"/>
                <a:cs typeface="Times New Roman" panose="02020603050405020304" pitchFamily="18" charset="0"/>
              </a:rPr>
              <a:t>PROJECT DESCRIPTION</a:t>
            </a:r>
            <a:endParaRPr lang="en-US" sz="28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396240" y="1737360"/>
            <a:ext cx="11399520" cy="224196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Title: VAPT of DVWA WordPress Site</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Objective: To perform a full security check on a test WordPress website to find vulnerabilities in default themes and plugins, using standard penetration testing tools and methods.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912436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96240" y="345440"/>
            <a:ext cx="11399520" cy="10058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1630680" y="586750"/>
            <a:ext cx="8930640" cy="523220"/>
          </a:xfrm>
          <a:prstGeom prst="rect">
            <a:avLst/>
          </a:prstGeom>
          <a:noFill/>
        </p:spPr>
        <p:txBody>
          <a:bodyPr wrap="square" rtlCol="0">
            <a:spAutoFit/>
          </a:bodyPr>
          <a:lstStyle/>
          <a:p>
            <a:pPr algn="ctr"/>
            <a:r>
              <a:rPr lang="en-US" sz="2800" dirty="0" smtClean="0">
                <a:latin typeface="Times New Roman" panose="02020603050405020304" pitchFamily="18" charset="0"/>
                <a:cs typeface="Times New Roman" panose="02020603050405020304" pitchFamily="18" charset="0"/>
              </a:rPr>
              <a:t>PROJECT DESCRIPTION</a:t>
            </a:r>
            <a:endParaRPr lang="en-US" sz="28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396240" y="1592590"/>
            <a:ext cx="11399520" cy="4524315"/>
          </a:xfrm>
          <a:prstGeom prst="rect">
            <a:avLst/>
          </a:prstGeom>
          <a:noFill/>
        </p:spPr>
        <p:txBody>
          <a:bodyPr wrap="square" rtlCol="0">
            <a:spAutoFit/>
          </a:bodyPr>
          <a:lstStyle/>
          <a:p>
            <a:pPr>
              <a:lnSpc>
                <a:spcPct val="150000"/>
              </a:lnSpc>
            </a:pPr>
            <a:r>
              <a:rPr lang="en-US" sz="2400" dirty="0" smtClean="0">
                <a:latin typeface="Times New Roman" panose="02020603050405020304" pitchFamily="18" charset="0"/>
                <a:cs typeface="Times New Roman" panose="02020603050405020304" pitchFamily="18" charset="0"/>
              </a:rPr>
              <a:t>Step 1- Reconnaissance &amp; Enumeration:</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Used </a:t>
            </a:r>
            <a:r>
              <a:rPr lang="en-US" sz="2400" dirty="0" err="1" smtClean="0">
                <a:latin typeface="Times New Roman" panose="02020603050405020304" pitchFamily="18" charset="0"/>
                <a:cs typeface="Times New Roman" panose="02020603050405020304" pitchFamily="18" charset="0"/>
              </a:rPr>
              <a:t>Subfinder</a:t>
            </a:r>
            <a:r>
              <a:rPr lang="en-US" sz="2400" dirty="0" smtClean="0">
                <a:latin typeface="Times New Roman" panose="02020603050405020304" pitchFamily="18" charset="0"/>
                <a:cs typeface="Times New Roman" panose="02020603050405020304" pitchFamily="18" charset="0"/>
              </a:rPr>
              <a:t> to find hidden subdomains.</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Ran Amass for deeper recon and DNS mapping.</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Scanned with </a:t>
            </a:r>
            <a:r>
              <a:rPr lang="en-US" sz="2400" dirty="0" err="1" smtClean="0">
                <a:latin typeface="Times New Roman" panose="02020603050405020304" pitchFamily="18" charset="0"/>
                <a:cs typeface="Times New Roman" panose="02020603050405020304" pitchFamily="18" charset="0"/>
              </a:rPr>
              <a:t>WPScan</a:t>
            </a:r>
            <a:r>
              <a:rPr lang="en-US" sz="2400" dirty="0" smtClean="0">
                <a:latin typeface="Times New Roman" panose="02020603050405020304" pitchFamily="18" charset="0"/>
                <a:cs typeface="Times New Roman" panose="02020603050405020304" pitchFamily="18" charset="0"/>
              </a:rPr>
              <a:t> to list installed themes, plugins, and users.</a:t>
            </a:r>
          </a:p>
          <a:p>
            <a:pPr>
              <a:lnSpc>
                <a:spcPct val="150000"/>
              </a:lnSpc>
            </a:pPr>
            <a:r>
              <a:rPr lang="en-US" sz="2400" dirty="0" smtClean="0">
                <a:latin typeface="Times New Roman" panose="02020603050405020304" pitchFamily="18" charset="0"/>
                <a:cs typeface="Times New Roman" panose="02020603050405020304" pitchFamily="18" charset="0"/>
              </a:rPr>
              <a:t>Outcome:</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Found default Twenty Seventeen theme.</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Detected pre-installed plugins like Hello Dolly and an old contact form plugin.</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Collected usernames for further testing.</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65160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96240" y="345440"/>
            <a:ext cx="11399520" cy="10058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1630680" y="586750"/>
            <a:ext cx="8930640" cy="523220"/>
          </a:xfrm>
          <a:prstGeom prst="rect">
            <a:avLst/>
          </a:prstGeom>
          <a:noFill/>
        </p:spPr>
        <p:txBody>
          <a:bodyPr wrap="square" rtlCol="0">
            <a:spAutoFit/>
          </a:bodyPr>
          <a:lstStyle/>
          <a:p>
            <a:pPr algn="ctr"/>
            <a:r>
              <a:rPr lang="en-US" sz="2800" dirty="0" smtClean="0">
                <a:latin typeface="Times New Roman" panose="02020603050405020304" pitchFamily="18" charset="0"/>
                <a:cs typeface="Times New Roman" panose="02020603050405020304" pitchFamily="18" charset="0"/>
              </a:rPr>
              <a:t>PROJECT DESCRIPTION</a:t>
            </a:r>
            <a:endParaRPr lang="en-US" sz="28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396240" y="1592590"/>
            <a:ext cx="11399520" cy="4524315"/>
          </a:xfrm>
          <a:prstGeom prst="rect">
            <a:avLst/>
          </a:prstGeom>
          <a:noFill/>
        </p:spPr>
        <p:txBody>
          <a:bodyPr wrap="square" rtlCol="0">
            <a:spAutoFit/>
          </a:bodyPr>
          <a:lstStyle/>
          <a:p>
            <a:pPr>
              <a:lnSpc>
                <a:spcPct val="150000"/>
              </a:lnSpc>
            </a:pPr>
            <a:r>
              <a:rPr lang="en-US" sz="2400" dirty="0" smtClean="0">
                <a:latin typeface="Times New Roman" panose="02020603050405020304" pitchFamily="18" charset="0"/>
                <a:cs typeface="Times New Roman" panose="02020603050405020304" pitchFamily="18" charset="0"/>
              </a:rPr>
              <a:t>Step 2 - Directory &amp; Service Discovery:</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Used </a:t>
            </a:r>
            <a:r>
              <a:rPr lang="en-US" sz="2400" dirty="0" err="1" smtClean="0">
                <a:latin typeface="Times New Roman" panose="02020603050405020304" pitchFamily="18" charset="0"/>
                <a:cs typeface="Times New Roman" panose="02020603050405020304" pitchFamily="18" charset="0"/>
              </a:rPr>
              <a:t>Gobuster</a:t>
            </a:r>
            <a:r>
              <a:rPr lang="en-US" sz="2400" dirty="0" smtClean="0">
                <a:latin typeface="Times New Roman" panose="02020603050405020304" pitchFamily="18" charset="0"/>
                <a:cs typeface="Times New Roman" panose="02020603050405020304" pitchFamily="18" charset="0"/>
              </a:rPr>
              <a:t> to find hidden directories, backup folders, and admin panels.</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Scanned open ports/services with </a:t>
            </a:r>
            <a:r>
              <a:rPr lang="en-US" sz="2400" dirty="0" err="1" smtClean="0">
                <a:latin typeface="Times New Roman" panose="02020603050405020304" pitchFamily="18" charset="0"/>
                <a:cs typeface="Times New Roman" panose="02020603050405020304" pitchFamily="18" charset="0"/>
              </a:rPr>
              <a:t>Nmap</a:t>
            </a:r>
            <a:r>
              <a:rPr lang="en-US" sz="2400" dirty="0" smtClean="0">
                <a:latin typeface="Times New Roman" panose="02020603050405020304" pitchFamily="18" charset="0"/>
                <a:cs typeface="Times New Roman" panose="02020603050405020304" pitchFamily="18" charset="0"/>
              </a:rPr>
              <a:t> for possible backdoors.</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Checked for a Web Application Firewall with Wafw00f.</a:t>
            </a:r>
          </a:p>
          <a:p>
            <a:pPr>
              <a:lnSpc>
                <a:spcPct val="150000"/>
              </a:lnSpc>
            </a:pPr>
            <a:r>
              <a:rPr lang="en-US" sz="2400" dirty="0" smtClean="0">
                <a:latin typeface="Times New Roman" panose="02020603050405020304" pitchFamily="18" charset="0"/>
                <a:cs typeface="Times New Roman" panose="02020603050405020304" pitchFamily="18" charset="0"/>
              </a:rPr>
              <a:t>Outcome:</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Found backup files left accessible.</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Detected open SSH and FTP ports.</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Confirmed no WAF, increasing exposure.</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527711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96240" y="345440"/>
            <a:ext cx="11399520" cy="10058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1630680" y="586750"/>
            <a:ext cx="8930640" cy="523220"/>
          </a:xfrm>
          <a:prstGeom prst="rect">
            <a:avLst/>
          </a:prstGeom>
          <a:noFill/>
        </p:spPr>
        <p:txBody>
          <a:bodyPr wrap="square" rtlCol="0">
            <a:spAutoFit/>
          </a:bodyPr>
          <a:lstStyle/>
          <a:p>
            <a:pPr algn="ctr"/>
            <a:r>
              <a:rPr lang="en-US" sz="2800" dirty="0" smtClean="0">
                <a:latin typeface="Times New Roman" panose="02020603050405020304" pitchFamily="18" charset="0"/>
                <a:cs typeface="Times New Roman" panose="02020603050405020304" pitchFamily="18" charset="0"/>
              </a:rPr>
              <a:t>PROJECT DESCRIPTION</a:t>
            </a:r>
            <a:endParaRPr lang="en-US" sz="28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396240" y="1592590"/>
            <a:ext cx="11399520" cy="4524315"/>
          </a:xfrm>
          <a:prstGeom prst="rect">
            <a:avLst/>
          </a:prstGeom>
          <a:noFill/>
        </p:spPr>
        <p:txBody>
          <a:bodyPr wrap="square" rtlCol="0">
            <a:spAutoFit/>
          </a:bodyPr>
          <a:lstStyle/>
          <a:p>
            <a:pPr>
              <a:lnSpc>
                <a:spcPct val="150000"/>
              </a:lnSpc>
            </a:pPr>
            <a:r>
              <a:rPr lang="en-US" sz="2400" dirty="0" smtClean="0">
                <a:latin typeface="Times New Roman" panose="02020603050405020304" pitchFamily="18" charset="0"/>
                <a:cs typeface="Times New Roman" panose="02020603050405020304" pitchFamily="18" charset="0"/>
              </a:rPr>
              <a:t>Step 3 - Exploitation &amp; Testing:</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Used Burp Suite to intercept requests, test login and form inputs.</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Ran OWASP ZAP to find XSS, </a:t>
            </a:r>
            <a:r>
              <a:rPr lang="en-US" sz="2400" dirty="0" err="1" smtClean="0">
                <a:latin typeface="Times New Roman" panose="02020603050405020304" pitchFamily="18" charset="0"/>
                <a:cs typeface="Times New Roman" panose="02020603050405020304" pitchFamily="18" charset="0"/>
              </a:rPr>
              <a:t>SQLi</a:t>
            </a:r>
            <a:r>
              <a:rPr lang="en-US" sz="2400" dirty="0" smtClean="0">
                <a:latin typeface="Times New Roman" panose="02020603050405020304" pitchFamily="18" charset="0"/>
                <a:cs typeface="Times New Roman" panose="02020603050405020304" pitchFamily="18" charset="0"/>
              </a:rPr>
              <a:t>, and CSRF vulnerabilities.</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Did manual testing for file upload bypasses in default themes.</a:t>
            </a:r>
          </a:p>
          <a:p>
            <a:pPr>
              <a:lnSpc>
                <a:spcPct val="150000"/>
              </a:lnSpc>
            </a:pPr>
            <a:r>
              <a:rPr lang="en-US" sz="2400" dirty="0" smtClean="0">
                <a:latin typeface="Times New Roman" panose="02020603050405020304" pitchFamily="18" charset="0"/>
                <a:cs typeface="Times New Roman" panose="02020603050405020304" pitchFamily="18" charset="0"/>
              </a:rPr>
              <a:t>Outcome:</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Found weak admin login using default password.</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Discovered XSS in the contact form plugin.</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Verified file upload issue in outdated theme files.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045093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96240" y="345440"/>
            <a:ext cx="11399520" cy="10058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1630680" y="586750"/>
            <a:ext cx="8930640" cy="523220"/>
          </a:xfrm>
          <a:prstGeom prst="rect">
            <a:avLst/>
          </a:prstGeom>
          <a:noFill/>
        </p:spPr>
        <p:txBody>
          <a:bodyPr wrap="square" rtlCol="0">
            <a:spAutoFit/>
          </a:bodyPr>
          <a:lstStyle/>
          <a:p>
            <a:pPr algn="ctr"/>
            <a:r>
              <a:rPr lang="en-US" sz="2800" dirty="0" smtClean="0">
                <a:latin typeface="Times New Roman" panose="02020603050405020304" pitchFamily="18" charset="0"/>
                <a:cs typeface="Times New Roman" panose="02020603050405020304" pitchFamily="18" charset="0"/>
              </a:rPr>
              <a:t>PROJECT DESCRIPTION</a:t>
            </a:r>
            <a:endParaRPr lang="en-US" sz="28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396240" y="1361440"/>
            <a:ext cx="11399520" cy="5632311"/>
          </a:xfrm>
          <a:prstGeom prst="rect">
            <a:avLst/>
          </a:prstGeom>
          <a:noFill/>
        </p:spPr>
        <p:txBody>
          <a:bodyPr wrap="square" rtlCol="0">
            <a:spAutoFit/>
          </a:bodyPr>
          <a:lstStyle/>
          <a:p>
            <a:pPr>
              <a:lnSpc>
                <a:spcPct val="150000"/>
              </a:lnSpc>
            </a:pPr>
            <a:r>
              <a:rPr lang="en-US" sz="2400" dirty="0" smtClean="0">
                <a:latin typeface="Times New Roman" panose="02020603050405020304" pitchFamily="18" charset="0"/>
                <a:cs typeface="Times New Roman" panose="02020603050405020304" pitchFamily="18" charset="0"/>
              </a:rPr>
              <a:t>Step 4 - Reporting &amp; Fixes</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Outdated default theme with file upload flaw.</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Pre-installed plugin vulnerable to XSS.</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Weak admin credentials, no MFA.</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No WAF for protection.</a:t>
            </a:r>
          </a:p>
          <a:p>
            <a:pPr>
              <a:lnSpc>
                <a:spcPct val="150000"/>
              </a:lnSpc>
            </a:pPr>
            <a:r>
              <a:rPr lang="en-US" sz="2400" dirty="0" smtClean="0">
                <a:latin typeface="Times New Roman" panose="02020603050405020304" pitchFamily="18" charset="0"/>
                <a:cs typeface="Times New Roman" panose="02020603050405020304" pitchFamily="18" charset="0"/>
              </a:rPr>
              <a:t>Outcome:</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Remove/disable unused default themes/plugins.</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Regularly update WordPress core &amp; plugins.</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Enforce strong passwords &amp; enable 2FA.</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Add a WAF for extra security.</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30400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96240" y="345440"/>
            <a:ext cx="11399520" cy="10058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1630680" y="586750"/>
            <a:ext cx="8930640" cy="523220"/>
          </a:xfrm>
          <a:prstGeom prst="rect">
            <a:avLst/>
          </a:prstGeom>
          <a:noFill/>
        </p:spPr>
        <p:txBody>
          <a:bodyPr wrap="square" rtlCol="0">
            <a:spAutoFit/>
          </a:bodyPr>
          <a:lstStyle/>
          <a:p>
            <a:pPr algn="ctr"/>
            <a:r>
              <a:rPr lang="en-US" sz="2800" dirty="0" smtClean="0">
                <a:latin typeface="Times New Roman" panose="02020603050405020304" pitchFamily="18" charset="0"/>
                <a:cs typeface="Times New Roman" panose="02020603050405020304" pitchFamily="18" charset="0"/>
              </a:rPr>
              <a:t>PROJECT DESCRIPTION</a:t>
            </a:r>
            <a:endParaRPr lang="en-US" sz="28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396240" y="1592590"/>
            <a:ext cx="11399520" cy="2862322"/>
          </a:xfrm>
          <a:prstGeom prst="rect">
            <a:avLst/>
          </a:prstGeom>
          <a:noFill/>
        </p:spPr>
        <p:txBody>
          <a:bodyPr wrap="square" rtlCol="0">
            <a:spAutoFit/>
          </a:bodyPr>
          <a:lstStyle/>
          <a:p>
            <a:pPr>
              <a:lnSpc>
                <a:spcPct val="150000"/>
              </a:lnSpc>
            </a:pPr>
            <a:r>
              <a:rPr lang="en-US" sz="2400" dirty="0" smtClean="0">
                <a:latin typeface="Times New Roman" panose="02020603050405020304" pitchFamily="18" charset="0"/>
                <a:cs typeface="Times New Roman" panose="02020603050405020304" pitchFamily="18" charset="0"/>
              </a:rPr>
              <a:t>Step 5 - Project Outcome</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Mapped the full attack surface using </a:t>
            </a:r>
            <a:r>
              <a:rPr lang="en-US" sz="2400" dirty="0" err="1" smtClean="0">
                <a:latin typeface="Times New Roman" panose="02020603050405020304" pitchFamily="18" charset="0"/>
                <a:cs typeface="Times New Roman" panose="02020603050405020304" pitchFamily="18" charset="0"/>
              </a:rPr>
              <a:t>Subfinder</a:t>
            </a:r>
            <a:r>
              <a:rPr lang="en-US" sz="2400" dirty="0" smtClean="0">
                <a:latin typeface="Times New Roman" panose="02020603050405020304" pitchFamily="18" charset="0"/>
                <a:cs typeface="Times New Roman" panose="02020603050405020304" pitchFamily="18" charset="0"/>
              </a:rPr>
              <a:t>, Amass, </a:t>
            </a:r>
            <a:r>
              <a:rPr lang="en-US" sz="2400" dirty="0" err="1" smtClean="0">
                <a:latin typeface="Times New Roman" panose="02020603050405020304" pitchFamily="18" charset="0"/>
                <a:cs typeface="Times New Roman" panose="02020603050405020304" pitchFamily="18" charset="0"/>
              </a:rPr>
              <a:t>Gobuster</a:t>
            </a:r>
            <a:r>
              <a:rPr lang="en-US" sz="2400" dirty="0" smtClean="0">
                <a:latin typeface="Times New Roman" panose="02020603050405020304" pitchFamily="18" charset="0"/>
                <a:cs typeface="Times New Roman" panose="02020603050405020304" pitchFamily="18" charset="0"/>
              </a:rPr>
              <a:t>.</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Identified real security gaps in common default setups.</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Learned how to combine automated and manual tools for practical testing.</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Documented all findings and provided clear fix recommendations.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684996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96240" y="345440"/>
            <a:ext cx="11399520" cy="1026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1630680" y="596910"/>
            <a:ext cx="8930640" cy="523220"/>
          </a:xfrm>
          <a:prstGeom prst="rect">
            <a:avLst/>
          </a:prstGeom>
          <a:noFill/>
        </p:spPr>
        <p:txBody>
          <a:bodyPr wrap="square" rtlCol="0">
            <a:spAutoFit/>
          </a:bodyPr>
          <a:lstStyle/>
          <a:p>
            <a:pPr algn="ctr"/>
            <a:r>
              <a:rPr lang="en-US" sz="2800" dirty="0" smtClean="0">
                <a:latin typeface="Times New Roman" panose="02020603050405020304" pitchFamily="18" charset="0"/>
                <a:cs typeface="Times New Roman" panose="02020603050405020304" pitchFamily="18" charset="0"/>
              </a:rPr>
              <a:t>RESULTS AND KEY LEARNINGS</a:t>
            </a:r>
            <a:endParaRPr lang="en-US" sz="28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396240" y="1623070"/>
            <a:ext cx="11399520" cy="452431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Understood how default themes/plugins can cause major vulnerabilities if ignored.</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Gained hands-on experience in running a complete VAPT workflow, from reconnaissance to reporting.</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Improved skills in using multiple cybersecurity tools together and verifying results manually.</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Learned how to document findings clearly and present them in a professional format.</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Developed a better understanding of ethical hacking practices and safe testing environments.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515862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96239" y="345440"/>
            <a:ext cx="11399520" cy="1026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1630680" y="596910"/>
            <a:ext cx="8930640" cy="523220"/>
          </a:xfrm>
          <a:prstGeom prst="rect">
            <a:avLst/>
          </a:prstGeom>
          <a:noFill/>
        </p:spPr>
        <p:txBody>
          <a:bodyPr wrap="square" rtlCol="0">
            <a:spAutoFit/>
          </a:bodyPr>
          <a:lstStyle/>
          <a:p>
            <a:pPr algn="ctr"/>
            <a:r>
              <a:rPr lang="en-US" sz="2800" dirty="0" smtClean="0">
                <a:latin typeface="Times New Roman" panose="02020603050405020304" pitchFamily="18" charset="0"/>
                <a:cs typeface="Times New Roman" panose="02020603050405020304" pitchFamily="18" charset="0"/>
              </a:rPr>
              <a:t>RESULTS AND KEY LEARNINGS</a:t>
            </a:r>
            <a:endParaRPr lang="en-US" sz="2800" dirty="0">
              <a:latin typeface="Times New Roman" panose="02020603050405020304" pitchFamily="18" charset="0"/>
              <a:cs typeface="Times New Roman" panose="02020603050405020304" pitchFamily="18" charset="0"/>
            </a:endParaRPr>
          </a:p>
        </p:txBody>
      </p:sp>
      <p:pic>
        <p:nvPicPr>
          <p:cNvPr id="6" name="Picture 5" descr="C:\Users\kkhar\Downloads\Screenshot_2025-07-02_19_45_04.png"/>
          <p:cNvPicPr/>
          <p:nvPr/>
        </p:nvPicPr>
        <p:blipFill rotWithShape="1">
          <a:blip r:embed="rId2" cstate="print">
            <a:extLst>
              <a:ext uri="{28A0092B-C50C-407E-A947-70E740481C1C}">
                <a14:useLocalDpi xmlns:a14="http://schemas.microsoft.com/office/drawing/2010/main" val="0"/>
              </a:ext>
            </a:extLst>
          </a:blip>
          <a:srcRect r="46619" b="49766"/>
          <a:stretch/>
        </p:blipFill>
        <p:spPr bwMode="auto">
          <a:xfrm>
            <a:off x="396241" y="1623071"/>
            <a:ext cx="4280262" cy="3123100"/>
          </a:xfrm>
          <a:prstGeom prst="rect">
            <a:avLst/>
          </a:prstGeom>
          <a:noFill/>
          <a:ln>
            <a:noFill/>
          </a:ln>
        </p:spPr>
      </p:pic>
      <p:pic>
        <p:nvPicPr>
          <p:cNvPr id="8" name="Picture 7" descr="C:\Users\kkhar\Downloads\Screenshot_2025-07-02_19_26_50.pn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50674" y="1623069"/>
            <a:ext cx="6945085" cy="4882233"/>
          </a:xfrm>
          <a:prstGeom prst="rect">
            <a:avLst/>
          </a:prstGeom>
          <a:noFill/>
          <a:ln>
            <a:noFill/>
          </a:ln>
        </p:spPr>
      </p:pic>
    </p:spTree>
    <p:extLst>
      <p:ext uri="{BB962C8B-B14F-4D97-AF65-F5344CB8AC3E}">
        <p14:creationId xmlns:p14="http://schemas.microsoft.com/office/powerpoint/2010/main" val="24208610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96240" y="345440"/>
            <a:ext cx="11399520" cy="1026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1630680" y="596910"/>
            <a:ext cx="8930640" cy="523220"/>
          </a:xfrm>
          <a:prstGeom prst="rect">
            <a:avLst/>
          </a:prstGeom>
          <a:noFill/>
        </p:spPr>
        <p:txBody>
          <a:bodyPr wrap="square" rtlCol="0">
            <a:spAutoFit/>
          </a:bodyPr>
          <a:lstStyle/>
          <a:p>
            <a:pPr algn="ctr"/>
            <a:r>
              <a:rPr lang="en-US" sz="2800" dirty="0" smtClean="0">
                <a:latin typeface="Times New Roman" panose="02020603050405020304" pitchFamily="18" charset="0"/>
                <a:cs typeface="Times New Roman" panose="02020603050405020304" pitchFamily="18" charset="0"/>
              </a:rPr>
              <a:t>CHALLENGES</a:t>
            </a:r>
            <a:endParaRPr lang="en-US" sz="28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396240" y="1623070"/>
            <a:ext cx="11399520" cy="334995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Some tools produced false positives, so manual validation was required.</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Limited time to test all attack vectors in depth.</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Needed to ensure all tests stayed within legal and ethical limits.</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Managing and organizing multiple scan reports for clear reporting.</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Configuring some tools for WordPress-specific scans took extra effort and troubleshooting.</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139946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96240" y="345440"/>
            <a:ext cx="11399520" cy="1026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1630680" y="596910"/>
            <a:ext cx="8930640" cy="523220"/>
          </a:xfrm>
          <a:prstGeom prst="rect">
            <a:avLst/>
          </a:prstGeom>
          <a:noFill/>
        </p:spPr>
        <p:txBody>
          <a:bodyPr wrap="square" rtlCol="0">
            <a:spAutoFit/>
          </a:bodyPr>
          <a:lstStyle/>
          <a:p>
            <a:pPr algn="ctr"/>
            <a:r>
              <a:rPr lang="en-US" sz="2800" dirty="0" smtClean="0">
                <a:latin typeface="Times New Roman" panose="02020603050405020304" pitchFamily="18" charset="0"/>
                <a:cs typeface="Times New Roman" panose="02020603050405020304" pitchFamily="18" charset="0"/>
              </a:rPr>
              <a:t>CONCLUSION</a:t>
            </a:r>
            <a:endParaRPr lang="en-US" sz="28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396240" y="1623070"/>
            <a:ext cx="11399520" cy="501194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This internship has been a valuable opportunity to apply my theoretical cybersecurity knowledge in a practical, real-world scenario.</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By performing a complete VAPT of a WordPress site, I gained experience in using professional tools, identifying vulnerabilities in default themes and plugins, and recommending effective security fixes.</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I learned how small misconfigurations or outdated components can become major entry points for attackers if ignored.</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This project has strengthened my confidence to pursue a career in ethical hacking and web application security, and motivated me to keep improving my skills in this field.</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65474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25120" y="2860932"/>
            <a:ext cx="11399520" cy="1026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971040" y="2958514"/>
            <a:ext cx="8107680" cy="830997"/>
          </a:xfrm>
          <a:prstGeom prst="rect">
            <a:avLst/>
          </a:prstGeom>
          <a:noFill/>
        </p:spPr>
        <p:txBody>
          <a:bodyPr wrap="square" rtlCol="0">
            <a:spAutoFit/>
          </a:bodyPr>
          <a:lstStyle/>
          <a:p>
            <a:pPr algn="ctr"/>
            <a:r>
              <a:rPr lang="en-US" sz="4800" dirty="0" smtClean="0">
                <a:latin typeface="Times New Roman" panose="02020603050405020304" pitchFamily="18" charset="0"/>
                <a:cs typeface="Times New Roman" panose="02020603050405020304" pitchFamily="18" charset="0"/>
              </a:rPr>
              <a:t>THANK YOU </a:t>
            </a:r>
            <a:endParaRPr lang="en-US" sz="4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36412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TotalTime>
  <Words>812</Words>
  <Application>Microsoft Office PowerPoint</Application>
  <PresentationFormat>Widescreen</PresentationFormat>
  <Paragraphs>91</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Times New Roman</vt:lpstr>
      <vt:lpstr>Office Theme</vt:lpstr>
      <vt:lpstr>        Dr. N.G.P. INSTITUTE OF TECHNOLOGY (An Autonomous Institution)               Approved by AICTE, New Delhi &amp; Affiliated to Anna University, Chennai.        Recognized by UGC &amp; Accredited by NAAC with A+ and NBA [BME, CSE, ECE, EEE &amp; Mechanical] Coimbatore- 641 048</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N.G.P. INSTITUTE OF TECHNOLOGY (An Autonomous Institution)               Approved by AICTE, New Delhi &amp; Affiliated to Anna University, Chennai.        Recognized by UGC &amp; Accredited by NAAC with A+ and NBA [BME, CSE, ECE, EEE &amp; Mechanical] Coimbatore- 641 048</dc:title>
  <dc:creator>hari k</dc:creator>
  <cp:lastModifiedBy>Microsoft account</cp:lastModifiedBy>
  <cp:revision>11</cp:revision>
  <dcterms:created xsi:type="dcterms:W3CDTF">2025-07-09T17:23:57Z</dcterms:created>
  <dcterms:modified xsi:type="dcterms:W3CDTF">2025-07-14T03:21:29Z</dcterms:modified>
</cp:coreProperties>
</file>